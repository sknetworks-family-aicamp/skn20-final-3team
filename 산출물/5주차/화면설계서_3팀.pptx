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43500" y="-228600"/>
            <a:ext cx="12191700" cy="6858000"/>
          </a:xfrm>
          <a:prstGeom prst="rect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88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588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822950" y="1828800"/>
            <a:ext cx="105156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ARAE 화면 설계서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7E1EE"/>
                </a:solidFill>
                <a:latin typeface="Calibri"/>
                <a:ea typeface="Calibri"/>
                <a:cs typeface="Calibri"/>
                <a:sym typeface="Calibri"/>
              </a:rPr>
              <a:t>SKN20기_FINAL_3팀 WE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0" y="0"/>
            <a:ext cx="182880" cy="713232"/>
          </a:xfrm>
          <a:prstGeom prst="rect">
            <a:avLst/>
          </a:prstGeom>
          <a:solidFill>
            <a:srgbClr val="F588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10896" y="137160"/>
            <a:ext cx="7955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AUTH-01 로그인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92440" y="1828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2DCE9"/>
                </a:solidFill>
                <a:latin typeface="Calibri"/>
                <a:ea typeface="Calibri"/>
                <a:cs typeface="Calibri"/>
                <a:sym typeface="Calibri"/>
              </a:rPr>
              <a:t>/auth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1384280" y="6492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06E8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182865" y="868618"/>
            <a:ext cx="7818000" cy="54408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스크린샷 2026-02-02 104748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70" y="1899946"/>
            <a:ext cx="7452361" cy="337824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/>
          <p:nvPr/>
        </p:nvSpPr>
        <p:spPr>
          <a:xfrm>
            <a:off x="5949300" y="4700075"/>
            <a:ext cx="457200" cy="4572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3495975" y="4230325"/>
            <a:ext cx="457200" cy="4572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6642024" y="3867000"/>
            <a:ext cx="510300" cy="3201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3698200" y="3461125"/>
            <a:ext cx="350400" cy="4059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8275320" y="868680"/>
            <a:ext cx="3611880" cy="5440680"/>
          </a:xfrm>
          <a:prstGeom prst="roundRect">
            <a:avLst>
              <a:gd fmla="val 2000" name="adj"/>
            </a:avLst>
          </a:prstGeom>
          <a:solidFill>
            <a:srgbClr val="F8FB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8421624" y="960120"/>
            <a:ext cx="3319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4243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설계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8366760" y="1252728"/>
            <a:ext cx="3429000" cy="119100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8439912" y="132588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695944" y="132588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회원가입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458200" y="1581912"/>
            <a:ext cx="3246120" cy="806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비로그인 사용자가 회원가입 링크를 클릭한다.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회원가입 화면(AUTH-02)으로 이동한다.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8366760" y="2498598"/>
            <a:ext cx="3429000" cy="119100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8439912" y="257175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695944" y="257175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458200" y="2827782"/>
            <a:ext cx="3246120" cy="806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이메일과 비밀번호를 입력하고 로그인 버튼을 클릭한다.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 성공 시 채팅 메인(CHAT-01)으로 이동하고, 실패 시 오류 메시지를 노출한다.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8366760" y="3744468"/>
            <a:ext cx="3429000" cy="119100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8439912" y="381762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695944" y="381762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 재설정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458200" y="4073652"/>
            <a:ext cx="3246120" cy="806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비밀번호 찾기 링크를 클릭한다.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 재설정 화면(AUTH-03)으로 전환한다.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8366760" y="4990338"/>
            <a:ext cx="3429000" cy="119100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8439912" y="506349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695944" y="506349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상태 유지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458200" y="5319522"/>
            <a:ext cx="3246120" cy="806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로그인 상태 유지 체크박스를 선택한다.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성공 시 세션 유지 옵션을 적용한다.</a:t>
            </a:r>
            <a:endParaRPr/>
          </a:p>
        </p:txBody>
      </p:sp>
      <p:cxnSp>
        <p:nvCxnSpPr>
          <p:cNvPr id="122" name="Google Shape;122;p14"/>
          <p:cNvCxnSpPr>
            <a:stCxn id="100" idx="2"/>
          </p:cNvCxnSpPr>
          <p:nvPr/>
        </p:nvCxnSpPr>
        <p:spPr>
          <a:xfrm rot="10800000">
            <a:off x="5688600" y="4743575"/>
            <a:ext cx="260700" cy="18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4"/>
          <p:cNvCxnSpPr>
            <a:stCxn id="102" idx="2"/>
          </p:cNvCxnSpPr>
          <p:nvPr/>
        </p:nvCxnSpPr>
        <p:spPr>
          <a:xfrm flipH="1">
            <a:off x="6385824" y="4027050"/>
            <a:ext cx="2562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4"/>
          <p:cNvCxnSpPr>
            <a:stCxn id="101" idx="6"/>
          </p:cNvCxnSpPr>
          <p:nvPr/>
        </p:nvCxnSpPr>
        <p:spPr>
          <a:xfrm flipH="1" rot="10800000">
            <a:off x="3953175" y="4302625"/>
            <a:ext cx="300300" cy="15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4"/>
          <p:cNvCxnSpPr>
            <a:stCxn id="103" idx="5"/>
          </p:cNvCxnSpPr>
          <p:nvPr/>
        </p:nvCxnSpPr>
        <p:spPr>
          <a:xfrm>
            <a:off x="3997285" y="3807582"/>
            <a:ext cx="379200" cy="6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0" y="0"/>
            <a:ext cx="182880" cy="713232"/>
          </a:xfrm>
          <a:prstGeom prst="rect">
            <a:avLst/>
          </a:prstGeom>
          <a:solidFill>
            <a:srgbClr val="F588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310896" y="137160"/>
            <a:ext cx="7955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AUTH-02 회원가입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092440" y="1828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2DCE9"/>
                </a:solidFill>
                <a:latin typeface="Calibri"/>
                <a:ea typeface="Calibri"/>
                <a:cs typeface="Calibri"/>
                <a:sym typeface="Calibri"/>
              </a:rPr>
              <a:t>/auth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1384280" y="6492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06E8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320040" y="868680"/>
            <a:ext cx="7818120" cy="544068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스크린샷 2026-02-02 113910.png" id="137" name="Google Shape;13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905727"/>
            <a:ext cx="7452360" cy="336658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/>
          <p:nvPr/>
        </p:nvSpPr>
        <p:spPr>
          <a:xfrm>
            <a:off x="3514506" y="2548125"/>
            <a:ext cx="390600" cy="3201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6943866" y="3461002"/>
            <a:ext cx="457200" cy="3201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6066970" y="4708724"/>
            <a:ext cx="390600" cy="3201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8275320" y="868680"/>
            <a:ext cx="3611880" cy="5440680"/>
          </a:xfrm>
          <a:prstGeom prst="roundRect">
            <a:avLst>
              <a:gd fmla="val 2000" name="adj"/>
            </a:avLst>
          </a:prstGeom>
          <a:solidFill>
            <a:srgbClr val="F8FB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8421624" y="960120"/>
            <a:ext cx="3319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4243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설계</a:t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8366760" y="1252728"/>
            <a:ext cx="3429000" cy="160629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8439912" y="132588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8695944" y="132588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정보 입력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8458200" y="1581912"/>
            <a:ext cx="3246120" cy="1222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이름, 이메일, 전화번호를 입력한다.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‘다음’ 버튼이 활성화되고 다음 단계로 이동한다.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8366760" y="2913888"/>
            <a:ext cx="3429000" cy="160629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8439912" y="298704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8695944" y="298704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이메일 인증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8458200" y="3243072"/>
            <a:ext cx="3246120" cy="1222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인증번호 전송 또는 인증하기 버튼을 클릭한다.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 성공 시 비밀번호 설정 단계로 전환한다.</a:t>
            </a: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8366760" y="4575048"/>
            <a:ext cx="3429000" cy="160629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8439912" y="464820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8695944" y="464820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가입 완료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8458200" y="4904232"/>
            <a:ext cx="3246120" cy="1222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비밀번호와 확인값을 입력하고 완료를 선택한다.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가입 완료 화면을 표시한 후 로그인 뷰로 이동한다.</a:t>
            </a:r>
            <a:endParaRPr/>
          </a:p>
        </p:txBody>
      </p:sp>
      <p:cxnSp>
        <p:nvCxnSpPr>
          <p:cNvPr id="155" name="Google Shape;155;p15"/>
          <p:cNvCxnSpPr>
            <a:stCxn id="138" idx="5"/>
          </p:cNvCxnSpPr>
          <p:nvPr/>
        </p:nvCxnSpPr>
        <p:spPr>
          <a:xfrm>
            <a:off x="3847904" y="2821347"/>
            <a:ext cx="375000" cy="2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15"/>
          <p:cNvCxnSpPr>
            <a:stCxn id="139" idx="2"/>
          </p:cNvCxnSpPr>
          <p:nvPr/>
        </p:nvCxnSpPr>
        <p:spPr>
          <a:xfrm rot="10800000">
            <a:off x="6457566" y="3554452"/>
            <a:ext cx="486300" cy="6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5"/>
          <p:cNvCxnSpPr>
            <a:stCxn id="140" idx="2"/>
          </p:cNvCxnSpPr>
          <p:nvPr/>
        </p:nvCxnSpPr>
        <p:spPr>
          <a:xfrm rot="10800000">
            <a:off x="5862970" y="4794974"/>
            <a:ext cx="204000" cy="7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0" y="0"/>
            <a:ext cx="182880" cy="713232"/>
          </a:xfrm>
          <a:prstGeom prst="rect">
            <a:avLst/>
          </a:prstGeom>
          <a:solidFill>
            <a:srgbClr val="F588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310896" y="137160"/>
            <a:ext cx="7955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AUTH-03 비밀번호 재설정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8092440" y="1828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2DCE9"/>
                </a:solidFill>
                <a:latin typeface="Calibri"/>
                <a:ea typeface="Calibri"/>
                <a:cs typeface="Calibri"/>
                <a:sym typeface="Calibri"/>
              </a:rPr>
              <a:t>/auth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11384280" y="6492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06E8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320040" y="868680"/>
            <a:ext cx="7818120" cy="544068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스크린샷 2026-02-02 114209.png" id="169" name="Google Shape;1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899740"/>
            <a:ext cx="7452360" cy="337855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3710228" y="2729750"/>
            <a:ext cx="316500" cy="3201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3894753" y="3300975"/>
            <a:ext cx="316500" cy="3765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7156439" y="4117845"/>
            <a:ext cx="561900" cy="4572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8275320" y="868680"/>
            <a:ext cx="3611880" cy="5440680"/>
          </a:xfrm>
          <a:prstGeom prst="roundRect">
            <a:avLst>
              <a:gd fmla="val 2000" name="adj"/>
            </a:avLst>
          </a:prstGeom>
          <a:solidFill>
            <a:srgbClr val="F8FB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8421624" y="960120"/>
            <a:ext cx="3319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4243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설계</a:t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8366760" y="1252728"/>
            <a:ext cx="3429000" cy="160629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8439912" y="132588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8695944" y="132588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인증번호 요청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8458200" y="1581912"/>
            <a:ext cx="3246120" cy="1222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가입 이메일을 입력하고 전송한다.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시스템이 인증번호를 발송하고 다음 단계로 진행한다.</a:t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8366760" y="2913888"/>
            <a:ext cx="3429000" cy="160629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8439912" y="298704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8695944" y="298704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인증번호 확인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8458200" y="3243072"/>
            <a:ext cx="3246120" cy="1222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인증번호를 입력하고 확인한다.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인증이 완료되면 새 비밀번호 입력 단계를 표시한다.</a:t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8366760" y="4575048"/>
            <a:ext cx="3429000" cy="160629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8439912" y="464820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8695944" y="464820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 변경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8458200" y="4904232"/>
            <a:ext cx="3246120" cy="1222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새 비밀번호를 입력하고 변경한다.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변경 완료 메시지를 표시하고 로그인 화면으로 돌아간다.</a:t>
            </a:r>
            <a:endParaRPr/>
          </a:p>
        </p:txBody>
      </p:sp>
      <p:cxnSp>
        <p:nvCxnSpPr>
          <p:cNvPr id="187" name="Google Shape;187;p16"/>
          <p:cNvCxnSpPr>
            <a:stCxn id="170" idx="6"/>
          </p:cNvCxnSpPr>
          <p:nvPr/>
        </p:nvCxnSpPr>
        <p:spPr>
          <a:xfrm>
            <a:off x="4026728" y="2889800"/>
            <a:ext cx="206400" cy="1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16"/>
          <p:cNvCxnSpPr>
            <a:stCxn id="172" idx="2"/>
          </p:cNvCxnSpPr>
          <p:nvPr/>
        </p:nvCxnSpPr>
        <p:spPr>
          <a:xfrm rot="10800000">
            <a:off x="6467639" y="4036245"/>
            <a:ext cx="688800" cy="3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0" y="0"/>
            <a:ext cx="182880" cy="713232"/>
          </a:xfrm>
          <a:prstGeom prst="rect">
            <a:avLst/>
          </a:prstGeom>
          <a:solidFill>
            <a:srgbClr val="F588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310896" y="137160"/>
            <a:ext cx="7955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CHAT-01 채팅 메인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8092440" y="1828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2DCE9"/>
                </a:solidFill>
                <a:latin typeface="Calibri"/>
                <a:ea typeface="Calibri"/>
                <a:cs typeface="Calibri"/>
                <a:sym typeface="Calibri"/>
              </a:rPr>
              <a:t>/main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11384280" y="6492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06E8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320090" y="868605"/>
            <a:ext cx="7818000" cy="54408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화면 캡처 2026-02-22 123447.png" id="200" name="Google Shape;2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893180"/>
            <a:ext cx="7452360" cy="339167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/>
          <p:nvPr/>
        </p:nvSpPr>
        <p:spPr>
          <a:xfrm>
            <a:off x="1783948" y="3135000"/>
            <a:ext cx="577500" cy="4572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/>
          </a:p>
        </p:txBody>
      </p:sp>
      <p:sp>
        <p:nvSpPr>
          <p:cNvPr id="202" name="Google Shape;202;p17"/>
          <p:cNvSpPr/>
          <p:nvPr/>
        </p:nvSpPr>
        <p:spPr>
          <a:xfrm>
            <a:off x="7141525" y="4200075"/>
            <a:ext cx="577500" cy="4050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1605210" y="4262030"/>
            <a:ext cx="577500" cy="4572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4" name="Google Shape;204;p17"/>
          <p:cNvSpPr/>
          <p:nvPr/>
        </p:nvSpPr>
        <p:spPr>
          <a:xfrm>
            <a:off x="1911909" y="2498595"/>
            <a:ext cx="457200" cy="4719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8275320" y="868680"/>
            <a:ext cx="3611880" cy="5440680"/>
          </a:xfrm>
          <a:prstGeom prst="roundRect">
            <a:avLst>
              <a:gd fmla="val 2000" name="adj"/>
            </a:avLst>
          </a:prstGeom>
          <a:solidFill>
            <a:srgbClr val="F8FB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8421624" y="960120"/>
            <a:ext cx="3319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4243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설계</a:t>
            </a: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8366760" y="1252728"/>
            <a:ext cx="3429000" cy="119100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8439912" y="132588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8695944" y="132588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새 검색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8458200" y="1581912"/>
            <a:ext cx="3246120" cy="806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새 검색 버튼을 클릭한다.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새 채팅 세션을 생성하고 입력 대기 상태로 전환한다.</a:t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8366760" y="2498598"/>
            <a:ext cx="3429000" cy="119100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8439912" y="257175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8695944" y="257175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메시지 전송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8458200" y="2827782"/>
            <a:ext cx="3246120" cy="806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메시지를 입력하고 전송 버튼을 누른다.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질의를 전송하고 AI 응답을 대화영역에 추가한다.</a:t>
            </a:r>
            <a:endParaRPr/>
          </a:p>
        </p:txBody>
      </p:sp>
      <p:sp>
        <p:nvSpPr>
          <p:cNvPr id="215" name="Google Shape;215;p17"/>
          <p:cNvSpPr/>
          <p:nvPr/>
        </p:nvSpPr>
        <p:spPr>
          <a:xfrm>
            <a:off x="8366760" y="3744468"/>
            <a:ext cx="3429000" cy="119100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8439912" y="381762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8695944" y="381762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첨부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8458200" y="4073652"/>
            <a:ext cx="3246120" cy="806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이미지 파일을 선택한다.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미리보기를 표시한 후 메시지와 함께 전송한다.</a:t>
            </a:r>
            <a:endParaRPr/>
          </a:p>
        </p:txBody>
      </p:sp>
      <p:sp>
        <p:nvSpPr>
          <p:cNvPr id="219" name="Google Shape;219;p17"/>
          <p:cNvSpPr/>
          <p:nvPr/>
        </p:nvSpPr>
        <p:spPr>
          <a:xfrm>
            <a:off x="8366760" y="4990338"/>
            <a:ext cx="3429000" cy="119100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8439912" y="506349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8695944" y="506349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도면등록 이동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8458200" y="5319522"/>
            <a:ext cx="3246120" cy="806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좌측 메뉴에서 도면등록을 클릭한다.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도면 등록/분석 화면(PLAN-01)으로 이동한다.</a:t>
            </a:r>
            <a:endParaRPr/>
          </a:p>
        </p:txBody>
      </p:sp>
      <p:cxnSp>
        <p:nvCxnSpPr>
          <p:cNvPr id="223" name="Google Shape;223;p17"/>
          <p:cNvCxnSpPr>
            <a:endCxn id="201" idx="2"/>
          </p:cNvCxnSpPr>
          <p:nvPr/>
        </p:nvCxnSpPr>
        <p:spPr>
          <a:xfrm>
            <a:off x="1388248" y="2891700"/>
            <a:ext cx="395700" cy="47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17"/>
          <p:cNvCxnSpPr>
            <a:endCxn id="204" idx="2"/>
          </p:cNvCxnSpPr>
          <p:nvPr/>
        </p:nvCxnSpPr>
        <p:spPr>
          <a:xfrm>
            <a:off x="1016709" y="2606445"/>
            <a:ext cx="895200" cy="12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17"/>
          <p:cNvCxnSpPr>
            <a:stCxn id="203" idx="4"/>
          </p:cNvCxnSpPr>
          <p:nvPr/>
        </p:nvCxnSpPr>
        <p:spPr>
          <a:xfrm>
            <a:off x="1893960" y="4719230"/>
            <a:ext cx="19200" cy="26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17"/>
          <p:cNvCxnSpPr>
            <a:stCxn id="202" idx="4"/>
          </p:cNvCxnSpPr>
          <p:nvPr/>
        </p:nvCxnSpPr>
        <p:spPr>
          <a:xfrm>
            <a:off x="7430275" y="4605075"/>
            <a:ext cx="197100" cy="4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0" y="0"/>
            <a:ext cx="182880" cy="713232"/>
          </a:xfrm>
          <a:prstGeom prst="rect">
            <a:avLst/>
          </a:prstGeom>
          <a:solidFill>
            <a:srgbClr val="F588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310896" y="137160"/>
            <a:ext cx="7955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PLAN-01 도면 등록/분석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8092440" y="1828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2DCE9"/>
                </a:solidFill>
                <a:latin typeface="Calibri"/>
                <a:ea typeface="Calibri"/>
                <a:cs typeface="Calibri"/>
                <a:sym typeface="Calibri"/>
              </a:rPr>
              <a:t>/file-upload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11384280" y="6492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06E80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237" name="Google Shape;237;p18"/>
          <p:cNvSpPr/>
          <p:nvPr/>
        </p:nvSpPr>
        <p:spPr>
          <a:xfrm>
            <a:off x="320103" y="868618"/>
            <a:ext cx="7818000" cy="54408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capture-localhost-3000-file-upload-2026-02-21-14_07_27.png" id="238" name="Google Shape;2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184" y="1051560"/>
            <a:ext cx="5791831" cy="507492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8"/>
          <p:cNvSpPr/>
          <p:nvPr/>
        </p:nvSpPr>
        <p:spPr>
          <a:xfrm>
            <a:off x="1841728" y="2258996"/>
            <a:ext cx="402600" cy="4137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40" name="Google Shape;240;p18"/>
          <p:cNvSpPr/>
          <p:nvPr/>
        </p:nvSpPr>
        <p:spPr>
          <a:xfrm>
            <a:off x="7426970" y="2215502"/>
            <a:ext cx="355500" cy="4572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6456698" y="4317077"/>
            <a:ext cx="402600" cy="3201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4834436" y="3429005"/>
            <a:ext cx="505800" cy="4572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43" name="Google Shape;243;p18"/>
          <p:cNvSpPr/>
          <p:nvPr/>
        </p:nvSpPr>
        <p:spPr>
          <a:xfrm>
            <a:off x="8275320" y="868680"/>
            <a:ext cx="3611880" cy="5440680"/>
          </a:xfrm>
          <a:prstGeom prst="roundRect">
            <a:avLst>
              <a:gd fmla="val 2000" name="adj"/>
            </a:avLst>
          </a:prstGeom>
          <a:solidFill>
            <a:srgbClr val="F8FB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>
            <a:off x="8421624" y="960120"/>
            <a:ext cx="3319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4243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설계</a:t>
            </a:r>
            <a:endParaRPr/>
          </a:p>
        </p:txBody>
      </p:sp>
      <p:sp>
        <p:nvSpPr>
          <p:cNvPr id="245" name="Google Shape;245;p18"/>
          <p:cNvSpPr/>
          <p:nvPr/>
        </p:nvSpPr>
        <p:spPr>
          <a:xfrm>
            <a:off x="8366760" y="1252728"/>
            <a:ext cx="3429000" cy="119100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8439912" y="132588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8695944" y="132588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도면 업로드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8458200" y="1581912"/>
            <a:ext cx="3246120" cy="806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JPG/PNG 도면을 선택하거나 드래그해서 올린다.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업로드된 파일을 미리보기로 표시하고 분석을 시작한다.</a:t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8366760" y="2498598"/>
            <a:ext cx="3429000" cy="119100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8439912" y="257175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8695944" y="257175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결과 확인</a:t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8458200" y="2827782"/>
            <a:ext cx="3246120" cy="806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JSON, AI 요약, 그래프 영역을 확인한다.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시스템이 분석 상태와 결과를 실시간으로 갱신한다.</a:t>
            </a:r>
            <a:endParaRPr/>
          </a:p>
        </p:txBody>
      </p:sp>
      <p:sp>
        <p:nvSpPr>
          <p:cNvPr id="253" name="Google Shape;253;p18"/>
          <p:cNvSpPr/>
          <p:nvPr/>
        </p:nvSpPr>
        <p:spPr>
          <a:xfrm>
            <a:off x="8366760" y="3744468"/>
            <a:ext cx="3429000" cy="119100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8439912" y="381762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8695944" y="381762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저장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8458200" y="4073652"/>
            <a:ext cx="3246120" cy="806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저장하기 버튼을 클릭한다.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 모달 후 DB에 분석 결과를 저장한다.</a:t>
            </a:r>
            <a:endParaRPr/>
          </a:p>
        </p:txBody>
      </p:sp>
      <p:sp>
        <p:nvSpPr>
          <p:cNvPr id="257" name="Google Shape;257;p18"/>
          <p:cNvSpPr/>
          <p:nvPr/>
        </p:nvSpPr>
        <p:spPr>
          <a:xfrm>
            <a:off x="8366760" y="4990338"/>
            <a:ext cx="3429000" cy="119100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8439912" y="506349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8695944" y="506349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파일 선택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8458200" y="5319522"/>
            <a:ext cx="3246120" cy="806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다른 파일 선택 버튼을 누른다.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결과를 초기화하고 새 분석을 준비한다.</a:t>
            </a:r>
            <a:endParaRPr/>
          </a:p>
        </p:txBody>
      </p:sp>
      <p:cxnSp>
        <p:nvCxnSpPr>
          <p:cNvPr id="261" name="Google Shape;261;p18"/>
          <p:cNvCxnSpPr>
            <a:stCxn id="241" idx="0"/>
          </p:cNvCxnSpPr>
          <p:nvPr/>
        </p:nvCxnSpPr>
        <p:spPr>
          <a:xfrm rot="10800000">
            <a:off x="6549698" y="4077077"/>
            <a:ext cx="108300" cy="2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18"/>
          <p:cNvCxnSpPr>
            <a:stCxn id="239" idx="6"/>
          </p:cNvCxnSpPr>
          <p:nvPr/>
        </p:nvCxnSpPr>
        <p:spPr>
          <a:xfrm>
            <a:off x="2244328" y="2465846"/>
            <a:ext cx="666300" cy="7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18"/>
          <p:cNvCxnSpPr>
            <a:stCxn id="242" idx="2"/>
          </p:cNvCxnSpPr>
          <p:nvPr/>
        </p:nvCxnSpPr>
        <p:spPr>
          <a:xfrm flipH="1">
            <a:off x="4478936" y="3657605"/>
            <a:ext cx="355500" cy="5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18"/>
          <p:cNvCxnSpPr>
            <a:stCxn id="240" idx="3"/>
          </p:cNvCxnSpPr>
          <p:nvPr/>
        </p:nvCxnSpPr>
        <p:spPr>
          <a:xfrm flipH="1">
            <a:off x="6918932" y="2605746"/>
            <a:ext cx="560100" cy="4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18"/>
          <p:cNvCxnSpPr>
            <a:stCxn id="240" idx="1"/>
          </p:cNvCxnSpPr>
          <p:nvPr/>
        </p:nvCxnSpPr>
        <p:spPr>
          <a:xfrm rot="10800000">
            <a:off x="6867632" y="1914357"/>
            <a:ext cx="611400" cy="36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0" y="0"/>
            <a:ext cx="182880" cy="713232"/>
          </a:xfrm>
          <a:prstGeom prst="rect">
            <a:avLst/>
          </a:prstGeom>
          <a:solidFill>
            <a:srgbClr val="F588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 txBox="1"/>
          <p:nvPr/>
        </p:nvSpPr>
        <p:spPr>
          <a:xfrm>
            <a:off x="310896" y="137160"/>
            <a:ext cx="7955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ADM-01 관리자 대시보드</a:t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8092440" y="1828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2DCE9"/>
                </a:solidFill>
                <a:latin typeface="Calibri"/>
                <a:ea typeface="Calibri"/>
                <a:cs typeface="Calibri"/>
                <a:sym typeface="Calibri"/>
              </a:rPr>
              <a:t>/admin</a:t>
            </a:r>
            <a:endParaRPr/>
          </a:p>
        </p:txBody>
      </p:sp>
      <p:sp>
        <p:nvSpPr>
          <p:cNvPr id="275" name="Google Shape;275;p19"/>
          <p:cNvSpPr txBox="1"/>
          <p:nvPr/>
        </p:nvSpPr>
        <p:spPr>
          <a:xfrm>
            <a:off x="11384280" y="6492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06E80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276" name="Google Shape;276;p19"/>
          <p:cNvSpPr/>
          <p:nvPr/>
        </p:nvSpPr>
        <p:spPr>
          <a:xfrm>
            <a:off x="320040" y="868680"/>
            <a:ext cx="7818120" cy="544068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화면 캡처 2026-02-22 123509.png" id="277" name="Google Shape;2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903274"/>
            <a:ext cx="7452360" cy="337149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9"/>
          <p:cNvSpPr/>
          <p:nvPr/>
        </p:nvSpPr>
        <p:spPr>
          <a:xfrm>
            <a:off x="4171608" y="1995021"/>
            <a:ext cx="654900" cy="3960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3613602" y="5485522"/>
            <a:ext cx="558000" cy="3201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80" name="Google Shape;280;p19"/>
          <p:cNvSpPr/>
          <p:nvPr/>
        </p:nvSpPr>
        <p:spPr>
          <a:xfrm>
            <a:off x="750280" y="3243073"/>
            <a:ext cx="510000" cy="4572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8275320" y="868680"/>
            <a:ext cx="3611880" cy="5440680"/>
          </a:xfrm>
          <a:prstGeom prst="roundRect">
            <a:avLst>
              <a:gd fmla="val 2000" name="adj"/>
            </a:avLst>
          </a:prstGeom>
          <a:solidFill>
            <a:srgbClr val="F8FB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8421624" y="960120"/>
            <a:ext cx="3319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4243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설계</a:t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8366760" y="1252728"/>
            <a:ext cx="3429000" cy="160629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8439912" y="132588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5" name="Google Shape;285;p19"/>
          <p:cNvSpPr txBox="1"/>
          <p:nvPr/>
        </p:nvSpPr>
        <p:spPr>
          <a:xfrm>
            <a:off x="8695944" y="132588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통계 확인</a:t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8458200" y="1581912"/>
            <a:ext cx="3246120" cy="1222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관리자가 KPI 카드를 확인한다.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시스템이 사용자/도면/채팅 통계를 조회해 표시한다.</a:t>
            </a:r>
            <a:endParaRPr/>
          </a:p>
        </p:txBody>
      </p:sp>
      <p:sp>
        <p:nvSpPr>
          <p:cNvPr id="287" name="Google Shape;287;p19"/>
          <p:cNvSpPr/>
          <p:nvPr/>
        </p:nvSpPr>
        <p:spPr>
          <a:xfrm>
            <a:off x="8366760" y="2913888"/>
            <a:ext cx="3429000" cy="160629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/>
          <p:nvPr/>
        </p:nvSpPr>
        <p:spPr>
          <a:xfrm>
            <a:off x="8439912" y="298704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89" name="Google Shape;289;p19"/>
          <p:cNvSpPr txBox="1"/>
          <p:nvPr/>
        </p:nvSpPr>
        <p:spPr>
          <a:xfrm>
            <a:off x="8695944" y="298704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활동 모니터링</a:t>
            </a: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8458200" y="3243072"/>
            <a:ext cx="3246120" cy="1222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관리자가 최근 활동 리스트를 확인한다.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최신 로그를 시간순으로 표시한다.</a:t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8366760" y="4575048"/>
            <a:ext cx="3429000" cy="160629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8439912" y="464820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8695944" y="464820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메뉴 이동</a:t>
            </a:r>
            <a:endParaRPr/>
          </a:p>
        </p:txBody>
      </p:sp>
      <p:sp>
        <p:nvSpPr>
          <p:cNvPr id="294" name="Google Shape;294;p19"/>
          <p:cNvSpPr txBox="1"/>
          <p:nvPr/>
        </p:nvSpPr>
        <p:spPr>
          <a:xfrm>
            <a:off x="8458200" y="4904232"/>
            <a:ext cx="3246120" cy="1222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관리자가 좌측 메뉴를 클릭한다.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활동 로그(ADM-02), 도면 DB(ADM-03)로 이동한다.</a:t>
            </a:r>
            <a:endParaRPr/>
          </a:p>
        </p:txBody>
      </p:sp>
      <p:cxnSp>
        <p:nvCxnSpPr>
          <p:cNvPr id="295" name="Google Shape;295;p19"/>
          <p:cNvCxnSpPr>
            <a:stCxn id="280" idx="0"/>
          </p:cNvCxnSpPr>
          <p:nvPr/>
        </p:nvCxnSpPr>
        <p:spPr>
          <a:xfrm flipH="1" rot="10800000">
            <a:off x="1005280" y="2847073"/>
            <a:ext cx="29400" cy="39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19"/>
          <p:cNvCxnSpPr>
            <a:stCxn id="279" idx="0"/>
          </p:cNvCxnSpPr>
          <p:nvPr/>
        </p:nvCxnSpPr>
        <p:spPr>
          <a:xfrm rot="10800000">
            <a:off x="3689802" y="4979422"/>
            <a:ext cx="202800" cy="5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19"/>
          <p:cNvCxnSpPr>
            <a:stCxn id="278" idx="2"/>
          </p:cNvCxnSpPr>
          <p:nvPr/>
        </p:nvCxnSpPr>
        <p:spPr>
          <a:xfrm flipH="1">
            <a:off x="2603208" y="2193021"/>
            <a:ext cx="1568400" cy="33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19"/>
          <p:cNvCxnSpPr>
            <a:stCxn id="278" idx="6"/>
          </p:cNvCxnSpPr>
          <p:nvPr/>
        </p:nvCxnSpPr>
        <p:spPr>
          <a:xfrm>
            <a:off x="4826508" y="2193021"/>
            <a:ext cx="2369100" cy="33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0" y="0"/>
            <a:ext cx="182880" cy="713232"/>
          </a:xfrm>
          <a:prstGeom prst="rect">
            <a:avLst/>
          </a:prstGeom>
          <a:solidFill>
            <a:srgbClr val="F588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 txBox="1"/>
          <p:nvPr/>
        </p:nvSpPr>
        <p:spPr>
          <a:xfrm>
            <a:off x="310896" y="137160"/>
            <a:ext cx="7955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ADM-02 관리자 활동 로그</a:t>
            </a:r>
            <a:endParaRPr/>
          </a:p>
        </p:txBody>
      </p:sp>
      <p:sp>
        <p:nvSpPr>
          <p:cNvPr id="307" name="Google Shape;307;p20"/>
          <p:cNvSpPr txBox="1"/>
          <p:nvPr/>
        </p:nvSpPr>
        <p:spPr>
          <a:xfrm>
            <a:off x="8092440" y="1828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2DCE9"/>
                </a:solidFill>
                <a:latin typeface="Calibri"/>
                <a:ea typeface="Calibri"/>
                <a:cs typeface="Calibri"/>
                <a:sym typeface="Calibri"/>
              </a:rPr>
              <a:t>/admin/logs</a:t>
            </a:r>
            <a:endParaRPr/>
          </a:p>
        </p:txBody>
      </p:sp>
      <p:sp>
        <p:nvSpPr>
          <p:cNvPr id="308" name="Google Shape;308;p20"/>
          <p:cNvSpPr txBox="1"/>
          <p:nvPr/>
        </p:nvSpPr>
        <p:spPr>
          <a:xfrm>
            <a:off x="11384280" y="6492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06E80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309" name="Google Shape;309;p20"/>
          <p:cNvSpPr/>
          <p:nvPr/>
        </p:nvSpPr>
        <p:spPr>
          <a:xfrm>
            <a:off x="320040" y="868680"/>
            <a:ext cx="7818120" cy="544068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화면 캡처 2026-02-22 123522.png" id="310" name="Google Shape;3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897607"/>
            <a:ext cx="7452360" cy="33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0"/>
          <p:cNvSpPr/>
          <p:nvPr/>
        </p:nvSpPr>
        <p:spPr>
          <a:xfrm>
            <a:off x="6818307" y="1966849"/>
            <a:ext cx="457200" cy="3273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2" name="Google Shape;312;p20"/>
          <p:cNvSpPr/>
          <p:nvPr/>
        </p:nvSpPr>
        <p:spPr>
          <a:xfrm>
            <a:off x="5022875" y="2102600"/>
            <a:ext cx="457200" cy="3831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6604919" y="3429000"/>
            <a:ext cx="570300" cy="3831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14" name="Google Shape;314;p20"/>
          <p:cNvSpPr/>
          <p:nvPr/>
        </p:nvSpPr>
        <p:spPr>
          <a:xfrm>
            <a:off x="8275320" y="868680"/>
            <a:ext cx="3611880" cy="5440680"/>
          </a:xfrm>
          <a:prstGeom prst="roundRect">
            <a:avLst>
              <a:gd fmla="val 2000" name="adj"/>
            </a:avLst>
          </a:prstGeom>
          <a:solidFill>
            <a:srgbClr val="F8FB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 txBox="1"/>
          <p:nvPr/>
        </p:nvSpPr>
        <p:spPr>
          <a:xfrm>
            <a:off x="8421624" y="960120"/>
            <a:ext cx="3319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4243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설계</a:t>
            </a:r>
            <a:endParaRPr/>
          </a:p>
        </p:txBody>
      </p:sp>
      <p:sp>
        <p:nvSpPr>
          <p:cNvPr id="316" name="Google Shape;316;p20"/>
          <p:cNvSpPr/>
          <p:nvPr/>
        </p:nvSpPr>
        <p:spPr>
          <a:xfrm>
            <a:off x="8366760" y="1252728"/>
            <a:ext cx="3429000" cy="160629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0"/>
          <p:cNvSpPr/>
          <p:nvPr/>
        </p:nvSpPr>
        <p:spPr>
          <a:xfrm>
            <a:off x="8439912" y="132588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8" name="Google Shape;318;p20"/>
          <p:cNvSpPr txBox="1"/>
          <p:nvPr/>
        </p:nvSpPr>
        <p:spPr>
          <a:xfrm>
            <a:off x="8695944" y="132588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기간 필터</a:t>
            </a:r>
            <a:endParaRPr/>
          </a:p>
        </p:txBody>
      </p:sp>
      <p:sp>
        <p:nvSpPr>
          <p:cNvPr id="319" name="Google Shape;319;p20"/>
          <p:cNvSpPr txBox="1"/>
          <p:nvPr/>
        </p:nvSpPr>
        <p:spPr>
          <a:xfrm>
            <a:off x="8458200" y="1581912"/>
            <a:ext cx="3246120" cy="1222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관리자가 시작일/종료일을 선택한다.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선택한 기간 조건으로 로그를 필터링한다.</a:t>
            </a:r>
            <a:endParaRPr/>
          </a:p>
        </p:txBody>
      </p:sp>
      <p:sp>
        <p:nvSpPr>
          <p:cNvPr id="320" name="Google Shape;320;p20"/>
          <p:cNvSpPr/>
          <p:nvPr/>
        </p:nvSpPr>
        <p:spPr>
          <a:xfrm>
            <a:off x="8366760" y="2913888"/>
            <a:ext cx="3429000" cy="160629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8439912" y="298704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22" name="Google Shape;322;p20"/>
          <p:cNvSpPr txBox="1"/>
          <p:nvPr/>
        </p:nvSpPr>
        <p:spPr>
          <a:xfrm>
            <a:off x="8695944" y="298704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타입·키워드 검색</a:t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8458200" y="3243072"/>
            <a:ext cx="3246120" cy="1222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관리자가 타입 선택 또는 키워드를 입력한다.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조건에 맞는 활동 목록만 테이블에 표시한다.</a:t>
            </a:r>
            <a:endParaRPr/>
          </a:p>
        </p:txBody>
      </p:sp>
      <p:sp>
        <p:nvSpPr>
          <p:cNvPr id="324" name="Google Shape;324;p20"/>
          <p:cNvSpPr/>
          <p:nvPr/>
        </p:nvSpPr>
        <p:spPr>
          <a:xfrm>
            <a:off x="8366760" y="4575048"/>
            <a:ext cx="3429000" cy="160629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8439912" y="464820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8695944" y="464820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보기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8458200" y="4904232"/>
            <a:ext cx="3246120" cy="1222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관리자가 상세 보기 버튼을 클릭한다.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해당 로그의 세부 내역을 모달로 표시한다.</a:t>
            </a:r>
            <a:endParaRPr/>
          </a:p>
        </p:txBody>
      </p:sp>
      <p:cxnSp>
        <p:nvCxnSpPr>
          <p:cNvPr id="328" name="Google Shape;328;p20"/>
          <p:cNvCxnSpPr>
            <a:stCxn id="313" idx="0"/>
          </p:cNvCxnSpPr>
          <p:nvPr/>
        </p:nvCxnSpPr>
        <p:spPr>
          <a:xfrm flipH="1" rot="10800000">
            <a:off x="6890069" y="3226500"/>
            <a:ext cx="16200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" name="Google Shape;329;p20"/>
          <p:cNvCxnSpPr>
            <a:stCxn id="312" idx="2"/>
          </p:cNvCxnSpPr>
          <p:nvPr/>
        </p:nvCxnSpPr>
        <p:spPr>
          <a:xfrm flipH="1">
            <a:off x="3433475" y="2294150"/>
            <a:ext cx="1589400" cy="32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" name="Google Shape;330;p20"/>
          <p:cNvCxnSpPr>
            <a:stCxn id="311" idx="5"/>
          </p:cNvCxnSpPr>
          <p:nvPr/>
        </p:nvCxnSpPr>
        <p:spPr>
          <a:xfrm>
            <a:off x="7208552" y="2246217"/>
            <a:ext cx="304800" cy="27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0" y="0"/>
            <a:ext cx="182880" cy="713232"/>
          </a:xfrm>
          <a:prstGeom prst="rect">
            <a:avLst/>
          </a:prstGeom>
          <a:solidFill>
            <a:srgbClr val="F588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310896" y="137160"/>
            <a:ext cx="7955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ADM-03 관리자 도면 DB</a:t>
            </a:r>
            <a:endParaRPr/>
          </a:p>
        </p:txBody>
      </p:sp>
      <p:sp>
        <p:nvSpPr>
          <p:cNvPr id="339" name="Google Shape;339;p21"/>
          <p:cNvSpPr txBox="1"/>
          <p:nvPr/>
        </p:nvSpPr>
        <p:spPr>
          <a:xfrm>
            <a:off x="8092440" y="1828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2DCE9"/>
                </a:solidFill>
                <a:latin typeface="Calibri"/>
                <a:ea typeface="Calibri"/>
                <a:cs typeface="Calibri"/>
                <a:sym typeface="Calibri"/>
              </a:rPr>
              <a:t>/admin/floor-plans</a:t>
            </a:r>
            <a:endParaRPr/>
          </a:p>
        </p:txBody>
      </p:sp>
      <p:sp>
        <p:nvSpPr>
          <p:cNvPr id="340" name="Google Shape;340;p21"/>
          <p:cNvSpPr txBox="1"/>
          <p:nvPr/>
        </p:nvSpPr>
        <p:spPr>
          <a:xfrm>
            <a:off x="11384280" y="6492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06E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341" name="Google Shape;341;p21"/>
          <p:cNvSpPr/>
          <p:nvPr/>
        </p:nvSpPr>
        <p:spPr>
          <a:xfrm>
            <a:off x="320040" y="868680"/>
            <a:ext cx="7818120" cy="544068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화면 캡처 2026-02-22 123536.png" id="342" name="Google Shape;3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896008"/>
            <a:ext cx="7452360" cy="3386022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1"/>
          <p:cNvSpPr/>
          <p:nvPr/>
        </p:nvSpPr>
        <p:spPr>
          <a:xfrm>
            <a:off x="3793553" y="1938525"/>
            <a:ext cx="457200" cy="3858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1103675" y="3103250"/>
            <a:ext cx="457200" cy="3333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45" name="Google Shape;345;p21"/>
          <p:cNvSpPr/>
          <p:nvPr/>
        </p:nvSpPr>
        <p:spPr>
          <a:xfrm>
            <a:off x="6415106" y="2488577"/>
            <a:ext cx="457200" cy="3858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7155073" y="5620827"/>
            <a:ext cx="379800" cy="311100"/>
          </a:xfrm>
          <a:prstGeom prst="ellipse">
            <a:avLst/>
          </a:prstGeom>
          <a:solidFill>
            <a:srgbClr val="F5882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8275320" y="868680"/>
            <a:ext cx="3611880" cy="5440680"/>
          </a:xfrm>
          <a:prstGeom prst="roundRect">
            <a:avLst>
              <a:gd fmla="val 2000" name="adj"/>
            </a:avLst>
          </a:prstGeom>
          <a:solidFill>
            <a:srgbClr val="F8FB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8421624" y="960120"/>
            <a:ext cx="3319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4243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설계</a:t>
            </a: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8366760" y="1252728"/>
            <a:ext cx="3429000" cy="119100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8439912" y="132588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51" name="Google Shape;351;p21"/>
          <p:cNvSpPr txBox="1"/>
          <p:nvPr/>
        </p:nvSpPr>
        <p:spPr>
          <a:xfrm>
            <a:off x="8695944" y="132588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도면 검색</a:t>
            </a:r>
            <a:endParaRPr/>
          </a:p>
        </p:txBody>
      </p:sp>
      <p:sp>
        <p:nvSpPr>
          <p:cNvPr id="352" name="Google Shape;352;p21"/>
          <p:cNvSpPr txBox="1"/>
          <p:nvPr/>
        </p:nvSpPr>
        <p:spPr>
          <a:xfrm>
            <a:off x="8458200" y="1581912"/>
            <a:ext cx="3246120" cy="806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관리자가 도면명을 입력하고 검색한다.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조건에 맞는 도면 목록을 표시한다.</a:t>
            </a:r>
            <a:endParaRPr/>
          </a:p>
        </p:txBody>
      </p:sp>
      <p:sp>
        <p:nvSpPr>
          <p:cNvPr id="353" name="Google Shape;353;p21"/>
          <p:cNvSpPr/>
          <p:nvPr/>
        </p:nvSpPr>
        <p:spPr>
          <a:xfrm>
            <a:off x="8366760" y="2498598"/>
            <a:ext cx="3429000" cy="119100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8439912" y="257175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55" name="Google Shape;355;p21"/>
          <p:cNvSpPr txBox="1"/>
          <p:nvPr/>
        </p:nvSpPr>
        <p:spPr>
          <a:xfrm>
            <a:off x="8695944" y="257175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고급 검색</a:t>
            </a:r>
            <a:endParaRPr/>
          </a:p>
        </p:txBody>
      </p:sp>
      <p:sp>
        <p:nvSpPr>
          <p:cNvPr id="356" name="Google Shape;356;p21"/>
          <p:cNvSpPr txBox="1"/>
          <p:nvPr/>
        </p:nvSpPr>
        <p:spPr>
          <a:xfrm>
            <a:off x="8458200" y="2827782"/>
            <a:ext cx="3246120" cy="806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관리자가 고급 검색 토글을 클릭한다.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업로더, 날짜, 공간 수 조건으로 확장 검색한다.</a:t>
            </a:r>
            <a:endParaRPr/>
          </a:p>
        </p:txBody>
      </p:sp>
      <p:sp>
        <p:nvSpPr>
          <p:cNvPr id="357" name="Google Shape;357;p21"/>
          <p:cNvSpPr/>
          <p:nvPr/>
        </p:nvSpPr>
        <p:spPr>
          <a:xfrm>
            <a:off x="8366760" y="3744468"/>
            <a:ext cx="3429000" cy="119100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8439912" y="381762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59" name="Google Shape;359;p21"/>
          <p:cNvSpPr txBox="1"/>
          <p:nvPr/>
        </p:nvSpPr>
        <p:spPr>
          <a:xfrm>
            <a:off x="8695944" y="381762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조회</a:t>
            </a:r>
            <a:endParaRPr/>
          </a:p>
        </p:txBody>
      </p:sp>
      <p:sp>
        <p:nvSpPr>
          <p:cNvPr id="360" name="Google Shape;360;p21"/>
          <p:cNvSpPr txBox="1"/>
          <p:nvPr/>
        </p:nvSpPr>
        <p:spPr>
          <a:xfrm>
            <a:off x="8458200" y="4073652"/>
            <a:ext cx="3246120" cy="806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관리자가 돋보기 아이콘을 클릭한다.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도면 이미지 모달을 열고 확대/축소를 지원한다.</a:t>
            </a:r>
            <a:endParaRPr/>
          </a:p>
        </p:txBody>
      </p:sp>
      <p:sp>
        <p:nvSpPr>
          <p:cNvPr id="361" name="Google Shape;361;p21"/>
          <p:cNvSpPr/>
          <p:nvPr/>
        </p:nvSpPr>
        <p:spPr>
          <a:xfrm>
            <a:off x="8366760" y="4990338"/>
            <a:ext cx="3429000" cy="1191006"/>
          </a:xfrm>
          <a:prstGeom prst="roundRect">
            <a:avLst>
              <a:gd fmla="val 2000" name="adj"/>
            </a:avLst>
          </a:prstGeom>
          <a:solidFill>
            <a:srgbClr val="FCFD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8439912" y="5063490"/>
            <a:ext cx="219456" cy="219456"/>
          </a:xfrm>
          <a:prstGeom prst="ellipse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63" name="Google Shape;363;p21"/>
          <p:cNvSpPr txBox="1"/>
          <p:nvPr/>
        </p:nvSpPr>
        <p:spPr>
          <a:xfrm>
            <a:off x="8695944" y="506349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삭제 처리</a:t>
            </a:r>
            <a:endParaRPr/>
          </a:p>
        </p:txBody>
      </p:sp>
      <p:sp>
        <p:nvSpPr>
          <p:cNvPr id="364" name="Google Shape;364;p21"/>
          <p:cNvSpPr txBox="1"/>
          <p:nvPr/>
        </p:nvSpPr>
        <p:spPr>
          <a:xfrm>
            <a:off x="8458200" y="5319522"/>
            <a:ext cx="3246120" cy="806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관리자가 단건 또는 일괄 삭제를 실행한다.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반응: </a:t>
            </a:r>
            <a:r>
              <a:rPr b="0" lang="en-US" sz="1018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 절차 후 데이터를 삭제하고 목록을 갱신한다.</a:t>
            </a:r>
            <a:endParaRPr/>
          </a:p>
        </p:txBody>
      </p:sp>
      <p:cxnSp>
        <p:nvCxnSpPr>
          <p:cNvPr id="365" name="Google Shape;365;p21"/>
          <p:cNvCxnSpPr>
            <a:stCxn id="343" idx="5"/>
          </p:cNvCxnSpPr>
          <p:nvPr/>
        </p:nvCxnSpPr>
        <p:spPr>
          <a:xfrm>
            <a:off x="4183798" y="2267826"/>
            <a:ext cx="828300" cy="33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6" name="Google Shape;366;p21"/>
          <p:cNvCxnSpPr>
            <a:stCxn id="345" idx="4"/>
          </p:cNvCxnSpPr>
          <p:nvPr/>
        </p:nvCxnSpPr>
        <p:spPr>
          <a:xfrm>
            <a:off x="6643706" y="2874377"/>
            <a:ext cx="254700" cy="3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7" name="Google Shape;367;p21"/>
          <p:cNvCxnSpPr>
            <a:stCxn id="344" idx="7"/>
          </p:cNvCxnSpPr>
          <p:nvPr/>
        </p:nvCxnSpPr>
        <p:spPr>
          <a:xfrm flipH="1" rot="10800000">
            <a:off x="1493920" y="2734461"/>
            <a:ext cx="1068300" cy="4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" name="Google Shape;368;p21"/>
          <p:cNvCxnSpPr>
            <a:stCxn id="346" idx="0"/>
          </p:cNvCxnSpPr>
          <p:nvPr/>
        </p:nvCxnSpPr>
        <p:spPr>
          <a:xfrm rot="10800000">
            <a:off x="7185373" y="5358627"/>
            <a:ext cx="159600" cy="26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0" y="0"/>
            <a:ext cx="182880" cy="713232"/>
          </a:xfrm>
          <a:prstGeom prst="rect">
            <a:avLst/>
          </a:prstGeom>
          <a:solidFill>
            <a:srgbClr val="F588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310896" y="137160"/>
            <a:ext cx="7955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부록</a:t>
            </a:r>
            <a:endParaRPr/>
          </a:p>
        </p:txBody>
      </p:sp>
      <p:sp>
        <p:nvSpPr>
          <p:cNvPr id="377" name="Google Shape;377;p22"/>
          <p:cNvSpPr txBox="1"/>
          <p:nvPr/>
        </p:nvSpPr>
        <p:spPr>
          <a:xfrm>
            <a:off x="8092440" y="1828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2DCE9"/>
                </a:solidFill>
                <a:latin typeface="Calibri"/>
                <a:ea typeface="Calibri"/>
                <a:cs typeface="Calibri"/>
                <a:sym typeface="Calibri"/>
              </a:rPr>
              <a:t>Screen IDs</a:t>
            </a:r>
            <a:endParaRPr/>
          </a:p>
        </p:txBody>
      </p:sp>
      <p:sp>
        <p:nvSpPr>
          <p:cNvPr id="378" name="Google Shape;378;p22"/>
          <p:cNvSpPr txBox="1"/>
          <p:nvPr/>
        </p:nvSpPr>
        <p:spPr>
          <a:xfrm>
            <a:off x="11384280" y="6492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06E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379" name="Google Shape;379;p22"/>
          <p:cNvSpPr/>
          <p:nvPr/>
        </p:nvSpPr>
        <p:spPr>
          <a:xfrm>
            <a:off x="640080" y="1188720"/>
            <a:ext cx="10972800" cy="512064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DD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2"/>
          <p:cNvSpPr txBox="1"/>
          <p:nvPr/>
        </p:nvSpPr>
        <p:spPr>
          <a:xfrm>
            <a:off x="914400" y="155448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AUTH-01  -  로그인  (/auth)</a:t>
            </a:r>
            <a:endParaRPr/>
          </a:p>
        </p:txBody>
      </p:sp>
      <p:sp>
        <p:nvSpPr>
          <p:cNvPr id="381" name="Google Shape;381;p22"/>
          <p:cNvSpPr txBox="1"/>
          <p:nvPr/>
        </p:nvSpPr>
        <p:spPr>
          <a:xfrm>
            <a:off x="914400" y="2121408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AUTH-02  -  회원가입  (/auth)</a:t>
            </a:r>
            <a:endParaRPr/>
          </a:p>
        </p:txBody>
      </p:sp>
      <p:sp>
        <p:nvSpPr>
          <p:cNvPr id="382" name="Google Shape;382;p22"/>
          <p:cNvSpPr txBox="1"/>
          <p:nvPr/>
        </p:nvSpPr>
        <p:spPr>
          <a:xfrm>
            <a:off x="914400" y="2688336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AUTH-03  -  비밀번호 재설정  (/auth)</a:t>
            </a:r>
            <a:endParaRPr/>
          </a:p>
        </p:txBody>
      </p:sp>
      <p:sp>
        <p:nvSpPr>
          <p:cNvPr id="383" name="Google Shape;383;p22"/>
          <p:cNvSpPr txBox="1"/>
          <p:nvPr/>
        </p:nvSpPr>
        <p:spPr>
          <a:xfrm>
            <a:off x="914400" y="3255263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CHAT-01  -  채팅 메인  (/main)</a:t>
            </a:r>
            <a:endParaRPr/>
          </a:p>
        </p:txBody>
      </p:sp>
      <p:sp>
        <p:nvSpPr>
          <p:cNvPr id="384" name="Google Shape;384;p22"/>
          <p:cNvSpPr txBox="1"/>
          <p:nvPr/>
        </p:nvSpPr>
        <p:spPr>
          <a:xfrm>
            <a:off x="914400" y="3822191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PLAN-01  -  도면 등록/분석  (/file-upload)</a:t>
            </a:r>
            <a:endParaRPr/>
          </a:p>
        </p:txBody>
      </p:sp>
      <p:sp>
        <p:nvSpPr>
          <p:cNvPr id="385" name="Google Shape;385;p22"/>
          <p:cNvSpPr txBox="1"/>
          <p:nvPr/>
        </p:nvSpPr>
        <p:spPr>
          <a:xfrm>
            <a:off x="914400" y="438912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ADM-01  -  관리자 대시보드  (/admin)</a:t>
            </a:r>
            <a:endParaRPr/>
          </a:p>
        </p:txBody>
      </p:sp>
      <p:sp>
        <p:nvSpPr>
          <p:cNvPr id="386" name="Google Shape;386;p22"/>
          <p:cNvSpPr txBox="1"/>
          <p:nvPr/>
        </p:nvSpPr>
        <p:spPr>
          <a:xfrm>
            <a:off x="914400" y="4956048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ADM-02  -  관리자 활동 로그  (/admin/logs)</a:t>
            </a:r>
            <a:endParaRPr/>
          </a:p>
        </p:txBody>
      </p:sp>
      <p:sp>
        <p:nvSpPr>
          <p:cNvPr id="387" name="Google Shape;387;p22"/>
          <p:cNvSpPr txBox="1"/>
          <p:nvPr/>
        </p:nvSpPr>
        <p:spPr>
          <a:xfrm>
            <a:off x="914400" y="5522976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43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ADM-03  -  관리자 도면 DB  (/admin/floor-plans)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